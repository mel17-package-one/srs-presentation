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304" r:id="rId4"/>
    <p:sldId id="307" r:id="rId5"/>
    <p:sldId id="308" r:id="rId6"/>
    <p:sldId id="309" r:id="rId7"/>
    <p:sldId id="310" r:id="rId8"/>
    <p:sldId id="311" r:id="rId9"/>
    <p:sldId id="268" r:id="rId10"/>
    <p:sldId id="269" r:id="rId11"/>
    <p:sldId id="270" r:id="rId12"/>
    <p:sldId id="271" r:id="rId13"/>
    <p:sldId id="272" r:id="rId14"/>
    <p:sldId id="273" r:id="rId15"/>
    <p:sldId id="286" r:id="rId16"/>
    <p:sldId id="289" r:id="rId17"/>
    <p:sldId id="292" r:id="rId18"/>
    <p:sldId id="294" r:id="rId19"/>
    <p:sldId id="295" r:id="rId20"/>
    <p:sldId id="296" r:id="rId21"/>
    <p:sldId id="301" r:id="rId22"/>
    <p:sldId id="303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955279" y="0"/>
            <a:ext cx="4236415" cy="6858000"/>
          </a:xfrm>
          <a:prstGeom prst="rect">
            <a:avLst/>
          </a:prstGeom>
          <a:solidFill>
            <a:srgbClr val="1A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67665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 Display"/>
              </a:defRPr>
            </a:pPr>
            <a:r>
              <a:t>Bundoora Family Clinic</a:t>
            </a:r>
          </a:p>
          <a:p>
            <a:pPr>
              <a:spcBef>
                <a:spcPts val="800"/>
              </a:spcBef>
              <a:defRPr sz="2100">
                <a:solidFill>
                  <a:srgbClr val="C3DAF0"/>
                </a:solidFill>
                <a:latin typeface="Aptos"/>
              </a:defRPr>
            </a:pPr>
            <a:r>
              <a:t>Digital Prescription &amp; Medication Tracking Management System (DPMTMS)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880360"/>
            <a:ext cx="6309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2DCEB"/>
                </a:solidFill>
                <a:latin typeface="Aptos"/>
              </a:defRPr>
            </a:pPr>
            <a:r>
              <a:t>CPRO306 Capstone Project — Final SRS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840480"/>
            <a:ext cx="65836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8F96"/>
                </a:solidFill>
                <a:latin typeface="Aptos"/>
              </a:defRPr>
            </a:pPr>
            <a:r>
              <a:t>Group Members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Kunjan Tamang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Darpan Kafle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Puja Gurung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Yam Bahadur Mohatra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Utsav Paudel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66760" y="1828800"/>
            <a:ext cx="33832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FINAL SRS</a:t>
            </a:r>
          </a:p>
          <a:p>
            <a:pPr>
              <a:defRPr sz="1400">
                <a:solidFill>
                  <a:srgbClr val="C3DAF0"/>
                </a:solidFill>
                <a:latin typeface="Aptos"/>
              </a:defRPr>
            </a:pPr>
            <a:r>
              <a:t>System Analysis • Design • Security • Testing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1E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0352" y="6565392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3"/>
                </a:solidFill>
                <a:latin typeface="Aptos"/>
              </a:defRPr>
            </a:pPr>
            <a:r>
              <a:t>Presenter: All group members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47104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A"/>
                </a:solidFill>
                <a:latin typeface="Aptos Display"/>
              </a:defRPr>
            </a:pPr>
            <a:r>
              <a:t>Project Scope, Limitations &amp;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329184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F96"/>
                </a:solidFill>
                <a:latin typeface="Aptos"/>
              </a:defRPr>
            </a:pPr>
            <a:r>
              <a:t>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A"/>
                </a:solidFill>
                <a:latin typeface="Aptos"/>
              </a:defRPr>
            </a:pPr>
            <a:r>
              <a:t>The final SRS defines what is included and what remains outside scope.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1E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3"/>
                </a:solidFill>
                <a:latin typeface="Aptos"/>
              </a:defRPr>
            </a:pPr>
            <a:r>
              <a:t>Presenter: Kunjan Tamang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3657600" cy="2057400"/>
          </a:xfrm>
          <a:prstGeom prst="roundRect">
            <a:avLst/>
          </a:prstGeom>
          <a:solidFill>
            <a:srgbClr val="F2F6FA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234440"/>
            <a:ext cx="73152" cy="2057400"/>
          </a:xfrm>
          <a:prstGeom prst="rect">
            <a:avLst/>
          </a:prstGeom>
          <a:solidFill>
            <a:srgbClr val="2C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1380744"/>
            <a:ext cx="3291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33A"/>
                </a:solidFill>
                <a:latin typeface="Aptos Display"/>
              </a:defRPr>
            </a:pPr>
            <a:r>
              <a:t>In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1801368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D3A"/>
                </a:solidFill>
                <a:latin typeface="Aptos"/>
              </a:defRPr>
            </a:pPr>
            <a:r>
              <a:t>User/role management • digital prescriptions • dispensing • inventory • reminders/alerts • reports • security/audit.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234440"/>
            <a:ext cx="3657600" cy="2057400"/>
          </a:xfrm>
          <a:prstGeom prst="roundRect">
            <a:avLst/>
          </a:prstGeom>
          <a:solidFill>
            <a:srgbClr val="F2F6FA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34840" y="1234440"/>
            <a:ext cx="73152" cy="205740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36007" y="1380744"/>
            <a:ext cx="3291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33A"/>
                </a:solidFill>
                <a:latin typeface="Aptos Display"/>
              </a:defRPr>
            </a:pPr>
            <a:r>
              <a:t>Out of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7" y="1801368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D3A"/>
                </a:solidFill>
                <a:latin typeface="Aptos"/>
              </a:defRPr>
            </a:pPr>
            <a:r>
              <a:t>Payment gateways • physical lab/medical-device integration • native desktop app • full EHR • insurance claims • hospital admission • laboratory result management.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234440"/>
            <a:ext cx="3337560" cy="2057400"/>
          </a:xfrm>
          <a:prstGeom prst="roundRect">
            <a:avLst/>
          </a:prstGeom>
          <a:solidFill>
            <a:srgbClr val="F2F6FA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75320" y="1234440"/>
            <a:ext cx="73152" cy="2057400"/>
          </a:xfrm>
          <a:prstGeom prst="rect">
            <a:avLst/>
          </a:prstGeom>
          <a:solidFill>
            <a:srgbClr val="C48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76488" y="1380744"/>
            <a:ext cx="2971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33A"/>
                </a:solidFill>
                <a:latin typeface="Aptos Display"/>
              </a:defRPr>
            </a:pPr>
            <a:r>
              <a:t>Key limitations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6488" y="1801368"/>
            <a:ext cx="2971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D3A"/>
                </a:solidFill>
                <a:latin typeface="Aptos"/>
              </a:defRPr>
            </a:pPr>
            <a:r>
              <a:t>Network dependency • third-party email/SMS dependency • concurrent database contention • human input errors • performance variability • security cannot be guaranteed absolutely.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94560" y="3794760"/>
            <a:ext cx="7818120" cy="1463040"/>
          </a:xfrm>
          <a:prstGeom prst="roundRect">
            <a:avLst/>
          </a:prstGeom>
          <a:solidFill>
            <a:srgbClr val="F2F6FA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194560" y="3794760"/>
            <a:ext cx="73152" cy="146304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395728" y="3941064"/>
            <a:ext cx="7452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33A"/>
                </a:solidFill>
                <a:latin typeface="Aptos Display"/>
              </a:defRPr>
            </a:pPr>
            <a:r>
              <a:t>Deliverables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95728" y="4361688"/>
            <a:ext cx="7452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D3A"/>
                </a:solidFill>
                <a:latin typeface="Aptos"/>
              </a:defRPr>
            </a:pPr>
            <a:r>
              <a:t>SRS requirements, database design, ERD, architecture, UI/UX wireframes, prototype, test plan/cases/data/results and deployment lifecycle artifacts.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A"/>
                </a:solidFill>
                <a:latin typeface="Aptos Display"/>
              </a:defRPr>
            </a:pPr>
            <a:r>
              <a:t>Work Breakdown Structure (WBS)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A"/>
                </a:solidFill>
                <a:latin typeface="Aptos"/>
              </a:defRPr>
            </a:pPr>
            <a:r>
              <a:t>Project activities are decomposed into six major work packages, from planning and requirements through maintenance and closure.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" y="1106424"/>
            <a:ext cx="11228832" cy="5239512"/>
          </a:xfrm>
          <a:prstGeom prst="roundRect">
            <a:avLst/>
          </a:prstGeom>
          <a:solidFill>
            <a:srgbClr val="FAFBFD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WhatsApp Image 2026-08-17 at 15.37..0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6519" y="1142999"/>
            <a:ext cx="6888480" cy="5166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1E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0352" y="6556248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3"/>
                </a:solidFill>
                <a:latin typeface="Aptos"/>
              </a:defRPr>
            </a:pPr>
            <a:r>
              <a:t>Presenter: Kunjan Tamang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33A"/>
                </a:solidFill>
                <a:latin typeface="Aptos Display"/>
              </a:defRPr>
            </a:pPr>
            <a:r>
              <a:t>Functional Requirements — Table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8323E"/>
                </a:solidFill>
                <a:latin typeface="Aptos"/>
              </a:defRPr>
            </a:pPr>
            <a:r>
              <a:t>FR01–09 | Exact table structure from the Final SRS Report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143000"/>
          <a:ext cx="10881360" cy="5047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FR No.</a:t>
                      </a:r>
                    </a:p>
                  </a:txBody>
                  <a:tcPr marL="54864" marR="54864" anchor="ctr">
                    <a:solidFill>
                      <a:srgbClr val="1223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Functional Requirement</a:t>
                      </a:r>
                    </a:p>
                  </a:txBody>
                  <a:tcPr marL="54864" marR="54864" anchor="ctr">
                    <a:solidFill>
                      <a:srgbClr val="1223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CRUD</a:t>
                      </a:r>
                    </a:p>
                  </a:txBody>
                  <a:tcPr marL="54864" marR="54864" anchor="ctr">
                    <a:solidFill>
                      <a:srgbClr val="1223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Module</a:t>
                      </a:r>
                    </a:p>
                  </a:txBody>
                  <a:tcPr marL="54864" marR="54864" anchor="ctr">
                    <a:solidFill>
                      <a:srgbClr val="1223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Comment</a:t>
                      </a:r>
                    </a:p>
                  </a:txBody>
                  <a:tcPr marL="54864" marR="54864" anchor="ctr">
                    <a:solidFill>
                      <a:srgbClr val="12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FR01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Register User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User Management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Creates a new user account.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FR02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Validate Registration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User Management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Validates all registration fields before submission.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FR03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Verify User Account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U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User Management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Verifies accounts using email or OTP.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FR04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Login User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R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User Management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Authenticates registered users.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FR05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Reset Password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U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User Management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Allows users to securely reset passwords.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FR06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Manage User Accounts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D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User Management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Admin activates, deactivates, or deletes accounts.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FR07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Assign User Roles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Role-Based Access Control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Assigns Doctor, Patient, Pharmacist, and Admin roles.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FR08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Restrict Module Access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R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Role-Based Access Control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Provides access according to user roles.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FR09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Dashboard Redirection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Role-Based Access Control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Redirects users to their relevant dashboard.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DE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973"/>
                </a:solidFill>
                <a:latin typeface="Aptos"/>
              </a:defRPr>
            </a:pPr>
            <a:r>
              <a:t>Presenter: Kunjan Tamang  •  Source: Final SRS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33A"/>
                </a:solidFill>
                <a:latin typeface="Aptos Display"/>
              </a:defRPr>
            </a:pPr>
            <a:r>
              <a:t>Functional Requirements — Table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8323E"/>
                </a:solidFill>
                <a:latin typeface="Aptos"/>
              </a:defRPr>
            </a:pPr>
            <a:r>
              <a:t>FR10–18 | Exact table structure from the Final SRS Report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143000"/>
          <a:ext cx="10881360" cy="5047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FR No.</a:t>
                      </a:r>
                    </a:p>
                  </a:txBody>
                  <a:tcPr marL="54864" marR="54864" anchor="ctr">
                    <a:solidFill>
                      <a:srgbClr val="1223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Functional Requirement</a:t>
                      </a:r>
                    </a:p>
                  </a:txBody>
                  <a:tcPr marL="54864" marR="54864" anchor="ctr">
                    <a:solidFill>
                      <a:srgbClr val="1223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CRUD</a:t>
                      </a:r>
                    </a:p>
                  </a:txBody>
                  <a:tcPr marL="54864" marR="54864" anchor="ctr">
                    <a:solidFill>
                      <a:srgbClr val="1223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Module</a:t>
                      </a:r>
                    </a:p>
                  </a:txBody>
                  <a:tcPr marL="54864" marR="54864" anchor="ctr">
                    <a:solidFill>
                      <a:srgbClr val="1223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Comment</a:t>
                      </a:r>
                    </a:p>
                  </a:txBody>
                  <a:tcPr marL="54864" marR="54864" anchor="ctr">
                    <a:solidFill>
                      <a:srgbClr val="12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FR10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Create Digital Prescription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Doctor Module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Doctor creates a prescription for a patient.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FR11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Select Patient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R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Doctor Module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Retrieves patient details from the database.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FR12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Add Medicine Details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Doctor Module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Adds medicine name, dosage, frequency, and duration.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FR13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Add Diagnosis and Clinical Notes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Doctor Module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Records diagnosis and medical notes.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FR14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Generate Prescription ID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Prescription Management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Creates a unique prescription identifier.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FR15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Manage Prescription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U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Doctor Module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Allows doctors to view, edit, or cancel prescriptions.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FR16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Digitally Sign Prescription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U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Doctor Module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Confirms prescription using digital signature.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FR17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Send Prescription Notification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Notification Module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Notifies patient and pharmacist about new prescriptions.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FR18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View Prescriptions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Patient Module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Allows patients to view active and past prescriptions.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DE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973"/>
                </a:solidFill>
                <a:latin typeface="Aptos"/>
              </a:defRPr>
            </a:pPr>
            <a:r>
              <a:t>Presenter: Darpan Kafle  •  Source: Final SRS Report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33A"/>
                </a:solidFill>
                <a:latin typeface="Aptos Display"/>
              </a:defRPr>
            </a:pPr>
            <a:r>
              <a:t>Functional Requirements — Table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8323E"/>
                </a:solidFill>
                <a:latin typeface="Aptos"/>
              </a:defRPr>
            </a:pPr>
            <a:r>
              <a:t>FR19–27 | Exact table structure from the Final SRS Report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143000"/>
          <a:ext cx="10881360" cy="5047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FR No.</a:t>
                      </a:r>
                    </a:p>
                  </a:txBody>
                  <a:tcPr marL="54864" marR="54864" anchor="ctr">
                    <a:solidFill>
                      <a:srgbClr val="1223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Functional Requirement</a:t>
                      </a:r>
                    </a:p>
                  </a:txBody>
                  <a:tcPr marL="54864" marR="54864" anchor="ctr">
                    <a:solidFill>
                      <a:srgbClr val="1223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CRUD</a:t>
                      </a:r>
                    </a:p>
                  </a:txBody>
                  <a:tcPr marL="54864" marR="54864" anchor="ctr">
                    <a:solidFill>
                      <a:srgbClr val="1223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Module</a:t>
                      </a:r>
                    </a:p>
                  </a:txBody>
                  <a:tcPr marL="54864" marR="54864" anchor="ctr">
                    <a:solidFill>
                      <a:srgbClr val="1223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Comment</a:t>
                      </a:r>
                    </a:p>
                  </a:txBody>
                  <a:tcPr marL="54864" marR="54864" anchor="ctr">
                    <a:solidFill>
                      <a:srgbClr val="12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FR19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Receive Prescription Notifications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Patient Module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Sends prescription updates through email or SMS.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FR20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Medication Reminders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R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Notification Module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Sends medication schedule reminders.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FR21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Update Medication Status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U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Patient Module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Allows patients to mark doses as Taken or Missed.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FR22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Request Prescription Renewal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Patient Module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Allows patients to request prescription renewal.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FR23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Update Patient Information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U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Patient Module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Updates patient profile details.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FR24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View Dispensing Status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R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Patient Module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Displays pharmacy dispensing updates.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FR25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View Assigned Prescriptions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Pharmacist Module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Pharmacists view assigned prescriptions.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FR26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Verify Prescription Authenticity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R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Pharmacist Module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Validates digital prescription signatures.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FR27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Update Dispensing Status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U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Pharmacist Module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Updates prescription status as Pending, Ready, or Collected.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DE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973"/>
                </a:solidFill>
                <a:latin typeface="Aptos"/>
              </a:defRPr>
            </a:pPr>
            <a:r>
              <a:t>Presenter: Puja Gurung  •  Source: Final SRS Report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33A"/>
                </a:solidFill>
                <a:latin typeface="Aptos Display"/>
              </a:defRPr>
            </a:pPr>
            <a:r>
              <a:t>Functional Requirements — Table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8323E"/>
                </a:solidFill>
                <a:latin typeface="Aptos"/>
              </a:defRPr>
            </a:pPr>
            <a:r>
              <a:t>FR28–36 | Exact table structure from the Final SRS Report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143000"/>
          <a:ext cx="10881360" cy="5047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FR No.</a:t>
                      </a:r>
                    </a:p>
                  </a:txBody>
                  <a:tcPr marL="54864" marR="54864" anchor="ctr">
                    <a:solidFill>
                      <a:srgbClr val="1223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Functional Requirement</a:t>
                      </a:r>
                    </a:p>
                  </a:txBody>
                  <a:tcPr marL="54864" marR="54864" anchor="ctr">
                    <a:solidFill>
                      <a:srgbClr val="1223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CRUD</a:t>
                      </a:r>
                    </a:p>
                  </a:txBody>
                  <a:tcPr marL="54864" marR="54864" anchor="ctr">
                    <a:solidFill>
                      <a:srgbClr val="1223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Module</a:t>
                      </a:r>
                    </a:p>
                  </a:txBody>
                  <a:tcPr marL="54864" marR="54864" anchor="ctr">
                    <a:solidFill>
                      <a:srgbClr val="1223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Comment</a:t>
                      </a:r>
                    </a:p>
                  </a:txBody>
                  <a:tcPr marL="54864" marR="54864" anchor="ctr">
                    <a:solidFill>
                      <a:srgbClr val="12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FR28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Update Medicine Stock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U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Inventory Management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Automatically updates stock after dispensing.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FR29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Record Medicine Batch Details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Pharmacist Module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Stores batch number and expiry information.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FR30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Generate Dispensing Report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Pharmacist Module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Creates daily dispensing reports.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FR31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Store Medicine Details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Inventory Management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Stores medicine information including price and expiry.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FR32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View Stock Availability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Inventory Management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Displays real-time medicine stock levels.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FR33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Generate Low Stock Alert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R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Inventory Management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Alerts users when stock is below threshold.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FR34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Generate Inventory Reports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Inventory Management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Creates expired and low-stock medicine reports.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FR35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Send User Notifications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Notification Module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Sends email or SMS notifications.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FR36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Generate Refill Alerts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Notification Module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Alerts patients when prescriptions expire.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DE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973"/>
                </a:solidFill>
                <a:latin typeface="Aptos"/>
              </a:defRPr>
            </a:pPr>
            <a:r>
              <a:t>Presenter: Yam Bahadur Mohatra  •  Source: Final SRS Report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33A"/>
                </a:solidFill>
                <a:latin typeface="Aptos Display"/>
              </a:defRPr>
            </a:pPr>
            <a:r>
              <a:t>Functional Requirements — Table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8323E"/>
                </a:solidFill>
                <a:latin typeface="Aptos"/>
              </a:defRPr>
            </a:pPr>
            <a:r>
              <a:t>FR37–45 | Exact table structure from the Final SRS Report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143000"/>
          <a:ext cx="10881360" cy="5047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FR No.</a:t>
                      </a:r>
                    </a:p>
                  </a:txBody>
                  <a:tcPr marL="54864" marR="54864" anchor="ctr">
                    <a:solidFill>
                      <a:srgbClr val="1223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Functional Requirement</a:t>
                      </a:r>
                    </a:p>
                  </a:txBody>
                  <a:tcPr marL="54864" marR="54864" anchor="ctr">
                    <a:solidFill>
                      <a:srgbClr val="1223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CRUD</a:t>
                      </a:r>
                    </a:p>
                  </a:txBody>
                  <a:tcPr marL="54864" marR="54864" anchor="ctr">
                    <a:solidFill>
                      <a:srgbClr val="1223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Module</a:t>
                      </a:r>
                    </a:p>
                  </a:txBody>
                  <a:tcPr marL="54864" marR="54864" anchor="ctr">
                    <a:solidFill>
                      <a:srgbClr val="1223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Comment</a:t>
                      </a:r>
                    </a:p>
                  </a:txBody>
                  <a:tcPr marL="54864" marR="54864" anchor="ctr">
                    <a:solidFill>
                      <a:srgbClr val="12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FR37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Send Missed Dose Alerts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Notification Module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Alerts doctors about repeated missed doses.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FR38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Generate System Reports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R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Reporting and Analytics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Generates reports for users, prescriptions, and medicine usage.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FR39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Display Analytics Charts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Reporting and Analytics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Displays prescription and adherence statistics.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FR40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Export Reports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R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Reporting and Analytics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Allows export in PDF and CSV formats.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FR41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Encrypt Sensitive Data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U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Security Module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Protects passwords and medical information.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FR42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Maintain Audit Logs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Security Module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Records user activities with timestamps and IP addresses.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FR43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Automatic Logout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U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Security Module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Logs out inactive users after a defined period.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FR44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Suggest Medication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R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AI Decision Support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Provides medication suggestions based on diagnosis.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FR45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Detect Drug Interactions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AI Decision Support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8323E"/>
                          </a:solidFill>
                          <a:latin typeface="Aptos"/>
                        </a:defRPr>
                      </a:pPr>
                      <a:r>
                        <a:t>Identifies possible drug interactions and allergy conflicts.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DE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973"/>
                </a:solidFill>
                <a:latin typeface="Aptos"/>
              </a:defRPr>
            </a:pPr>
            <a:r>
              <a:t>Presenter: Utsav Paudel  •  Source: Final SRS Report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A"/>
                </a:solidFill>
                <a:latin typeface="Aptos Display"/>
              </a:defRPr>
            </a:pPr>
            <a:r>
              <a:t>System Design — User Interface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329184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F96"/>
                </a:solidFill>
                <a:latin typeface="Aptos"/>
              </a:defRPr>
            </a:pPr>
            <a:r>
              <a:t>UI / 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A"/>
                </a:solidFill>
                <a:latin typeface="Aptos"/>
              </a:defRPr>
            </a:pPr>
            <a:r>
              <a:t>The report provides a role-based UI journey from landing page through Doctor, Admin, Patient and Pharmacist modules.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1E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2588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325880"/>
            <a:ext cx="73152" cy="1508760"/>
          </a:xfrm>
          <a:prstGeom prst="rect">
            <a:avLst/>
          </a:prstGeom>
          <a:solidFill>
            <a:srgbClr val="2C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1472184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33A"/>
                </a:solidFill>
                <a:latin typeface="Aptos Display"/>
              </a:defRPr>
            </a:pPr>
            <a:r>
              <a:t>Public &amp;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1892807"/>
            <a:ext cx="31089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D3A"/>
                </a:solidFill>
                <a:latin typeface="Aptos"/>
              </a:defRPr>
            </a:pPr>
            <a:r>
              <a:t>Landing page, services, login, staff role selection, password reset, OTP verification and registration.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32588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70832" y="1325880"/>
            <a:ext cx="73152" cy="1508760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1472184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33A"/>
                </a:solidFill>
                <a:latin typeface="Aptos Display"/>
              </a:defRPr>
            </a:pPr>
            <a:r>
              <a:t>Doctor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892807"/>
            <a:ext cx="31089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D3A"/>
                </a:solidFill>
                <a:latin typeface="Aptos"/>
              </a:defRPr>
            </a:pPr>
            <a:r>
              <a:t>Dashboard, patient reports and prescription creation/editing with digital signature.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132588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01583" y="1325880"/>
            <a:ext cx="73152" cy="1508760"/>
          </a:xfrm>
          <a:prstGeom prst="rect">
            <a:avLst/>
          </a:prstGeom>
          <a:solidFill>
            <a:srgbClr val="C48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02752" y="1472184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33A"/>
                </a:solidFill>
                <a:latin typeface="Aptos Display"/>
              </a:defRPr>
            </a:pPr>
            <a:r>
              <a:t>Administrator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1892807"/>
            <a:ext cx="31089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D3A"/>
                </a:solidFill>
                <a:latin typeface="Aptos"/>
              </a:defRPr>
            </a:pPr>
            <a:r>
              <a:t>Dashboard, user management, audit logs, reports, settings, notifications and inventory.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14600" y="338328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514600" y="3383280"/>
            <a:ext cx="73152" cy="150876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15768" y="3529584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33A"/>
                </a:solidFill>
                <a:latin typeface="Aptos Display"/>
              </a:defRPr>
            </a:pPr>
            <a:r>
              <a:t>Patient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15768" y="3950208"/>
            <a:ext cx="31089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D3A"/>
                </a:solidFill>
                <a:latin typeface="Aptos"/>
              </a:defRPr>
            </a:pPr>
            <a:r>
              <a:t>Dashboard, prescription details, profile and medication tracking.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5352" y="338328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45352" y="3383280"/>
            <a:ext cx="73152" cy="150876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20" y="3529584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33A"/>
                </a:solidFill>
                <a:latin typeface="Aptos Display"/>
              </a:defRPr>
            </a:pPr>
            <a:r>
              <a:t>Pharmacist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950208"/>
            <a:ext cx="31089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D3A"/>
                </a:solidFill>
                <a:latin typeface="Aptos"/>
              </a:defRPr>
            </a:pPr>
            <a:r>
              <a:t>Dashboard, assigned prescriptions, verification, dispensing, inventory, reports and profile.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548640"/>
          </a:xfrm>
          <a:prstGeom prst="rect">
            <a:avLst/>
          </a:prstGeom>
          <a:noFill/>
        </p:spPr>
        <p:txBody>
          <a:bodyPr wrap="square" lIns="54864" tIns="27432" rIns="27432" bIns="27432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32D3A"/>
                </a:solidFill>
                <a:latin typeface="Aptos"/>
              </a:defRPr>
            </a:pPr>
            <a:r>
              <a:t>All UI screenshots on the following slides are reproduced from the attached Final SRS report.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A"/>
                </a:solidFill>
                <a:latin typeface="Aptos Display"/>
              </a:defRPr>
            </a:pPr>
            <a:r>
              <a:t>UI Showcase — Landing Page &amp; Services / Clinic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329184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F96"/>
                </a:solidFill>
                <a:latin typeface="Aptos"/>
              </a:defRPr>
            </a:pPr>
            <a:r>
              <a:t>UI /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A"/>
                </a:solidFill>
                <a:latin typeface="Aptos"/>
              </a:defRPr>
            </a:pPr>
            <a:r>
              <a:t>Role-based interface screens reproduced from the final SRS report.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1E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" y="1133856"/>
            <a:ext cx="5559552" cy="5148072"/>
          </a:xfrm>
          <a:prstGeom prst="roundRect">
            <a:avLst/>
          </a:prstGeom>
          <a:solidFill>
            <a:srgbClr val="FAFBFD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pag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804" y="1170432"/>
            <a:ext cx="4148630" cy="50749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163056" y="1133856"/>
            <a:ext cx="5559552" cy="5148072"/>
          </a:xfrm>
          <a:prstGeom prst="roundRect">
            <a:avLst/>
          </a:prstGeom>
          <a:solidFill>
            <a:srgbClr val="FAFBFD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page_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8516" y="1170432"/>
            <a:ext cx="4148630" cy="5074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8368" y="6108192"/>
            <a:ext cx="5212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A646E"/>
                </a:solidFill>
                <a:latin typeface="Aptos"/>
              </a:defRPr>
            </a:pPr>
            <a:r>
              <a:t>Figure/page Landing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6108192"/>
            <a:ext cx="5212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A646E"/>
                </a:solidFill>
                <a:latin typeface="Aptos"/>
              </a:defRPr>
            </a:pPr>
            <a:r>
              <a:t>Figure/page Services / Clinic Information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A"/>
                </a:solidFill>
                <a:latin typeface="Aptos Display"/>
              </a:defRPr>
            </a:pPr>
            <a:r>
              <a:t>UI Showcase — Login Portal &amp; Staff Login &amp; Login Error &amp; Forgot Password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329184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F96"/>
                </a:solidFill>
                <a:latin typeface="Aptos"/>
              </a:defRPr>
            </a:pPr>
            <a:r>
              <a:t>UI /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A"/>
                </a:solidFill>
                <a:latin typeface="Aptos"/>
              </a:defRPr>
            </a:pPr>
            <a:r>
              <a:t>Role-based interface screens reproduced from the final SRS report.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1E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" y="1133856"/>
            <a:ext cx="5559552" cy="5148072"/>
          </a:xfrm>
          <a:prstGeom prst="roundRect">
            <a:avLst/>
          </a:prstGeom>
          <a:solidFill>
            <a:srgbClr val="FAFBFD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pag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804" y="1170432"/>
            <a:ext cx="4148630" cy="50749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163056" y="1133856"/>
            <a:ext cx="5559552" cy="5148072"/>
          </a:xfrm>
          <a:prstGeom prst="roundRect">
            <a:avLst/>
          </a:prstGeom>
          <a:solidFill>
            <a:srgbClr val="FAFBFD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page_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8516" y="1170432"/>
            <a:ext cx="4148630" cy="5074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8368" y="6108192"/>
            <a:ext cx="5212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A646E"/>
                </a:solidFill>
                <a:latin typeface="Aptos"/>
              </a:defRPr>
            </a:pPr>
            <a:r>
              <a:t>Figure/page Login Portal &amp; Staff Login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6108192"/>
            <a:ext cx="5212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A646E"/>
                </a:solidFill>
                <a:latin typeface="Aptos"/>
              </a:defRPr>
            </a:pPr>
            <a:r>
              <a:t>Figure/page Login Error &amp; Forgot Password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A"/>
                </a:solidFill>
                <a:latin typeface="Aptos Display"/>
              </a:defRPr>
            </a:pPr>
            <a:r>
              <a:t>UI Showcase — Reset Password &amp; OTP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329184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F96"/>
                </a:solidFill>
                <a:latin typeface="Aptos"/>
              </a:defRPr>
            </a:pPr>
            <a:r>
              <a:t>UI /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A"/>
                </a:solidFill>
                <a:latin typeface="Aptos"/>
              </a:defRPr>
            </a:pPr>
            <a:r>
              <a:t>Role-based interface screens reproduced from the final SRS report.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1E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" y="1133856"/>
            <a:ext cx="5559552" cy="5148072"/>
          </a:xfrm>
          <a:prstGeom prst="roundRect">
            <a:avLst/>
          </a:prstGeom>
          <a:solidFill>
            <a:srgbClr val="FAFBFD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pag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804" y="1170432"/>
            <a:ext cx="4148630" cy="50749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163056" y="1133856"/>
            <a:ext cx="5559552" cy="5148072"/>
          </a:xfrm>
          <a:prstGeom prst="roundRect">
            <a:avLst/>
          </a:prstGeom>
          <a:solidFill>
            <a:srgbClr val="FAFBFD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page_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8516" y="1170432"/>
            <a:ext cx="4148630" cy="5074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8368" y="6108192"/>
            <a:ext cx="5212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A646E"/>
                </a:solidFill>
                <a:latin typeface="Aptos"/>
              </a:defRPr>
            </a:pPr>
            <a:r>
              <a:t>Figure/page Reset Password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6108192"/>
            <a:ext cx="5212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A646E"/>
                </a:solidFill>
                <a:latin typeface="Aptos"/>
              </a:defRPr>
            </a:pPr>
            <a:r>
              <a:t>Figure/page OTP Verification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A"/>
                </a:solidFill>
                <a:latin typeface="Aptos Display"/>
              </a:defRPr>
            </a:pPr>
            <a:r>
              <a:t>UI Showcase — Sign In / Registration &amp; Doctor Dashboard &amp; Patient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329184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F96"/>
                </a:solidFill>
                <a:latin typeface="Aptos"/>
              </a:defRPr>
            </a:pPr>
            <a:r>
              <a:t>UI /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A"/>
                </a:solidFill>
                <a:latin typeface="Aptos"/>
              </a:defRPr>
            </a:pPr>
            <a:r>
              <a:t>Role-based interface screens reproduced from the final SRS report.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1E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923651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3"/>
                </a:solidFill>
                <a:latin typeface="Aptos"/>
              </a:defRPr>
            </a:pPr>
            <a:r>
              <a:rPr dirty="0"/>
              <a:t>Presenter: </a:t>
            </a:r>
            <a:r>
              <a:rPr lang="en-US" dirty="0"/>
              <a:t>Puja 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" y="1133856"/>
            <a:ext cx="5559552" cy="5148072"/>
          </a:xfrm>
          <a:prstGeom prst="roundRect">
            <a:avLst/>
          </a:prstGeom>
          <a:solidFill>
            <a:srgbClr val="FAFBFD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page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804" y="1170432"/>
            <a:ext cx="4148630" cy="50749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163056" y="1133856"/>
            <a:ext cx="5559552" cy="5148072"/>
          </a:xfrm>
          <a:prstGeom prst="roundRect">
            <a:avLst/>
          </a:prstGeom>
          <a:solidFill>
            <a:srgbClr val="FAFBFD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page_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8516" y="1170432"/>
            <a:ext cx="4148630" cy="5074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8368" y="6108192"/>
            <a:ext cx="5212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A646E"/>
                </a:solidFill>
                <a:latin typeface="Aptos"/>
              </a:defRPr>
            </a:pPr>
            <a:r>
              <a:t>Figure/page Sign In / Registration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6108192"/>
            <a:ext cx="5212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A646E"/>
                </a:solidFill>
                <a:latin typeface="Aptos"/>
              </a:defRPr>
            </a:pPr>
            <a:r>
              <a:t>Figure/page Doctor Dashboard &amp; Patient Reports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A"/>
                </a:solidFill>
                <a:latin typeface="Aptos Display"/>
              </a:defRPr>
            </a:pPr>
            <a:r>
              <a:t>UI Showcase — Prescription Dashboard &amp; Admin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329184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F96"/>
                </a:solidFill>
                <a:latin typeface="Aptos"/>
              </a:defRPr>
            </a:pPr>
            <a:r>
              <a:t>UI /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A"/>
                </a:solidFill>
                <a:latin typeface="Aptos"/>
              </a:defRPr>
            </a:pPr>
            <a:r>
              <a:t>Role-based interface screens reproduced from the final SRS report.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1E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3"/>
                </a:solidFill>
                <a:latin typeface="Aptos"/>
              </a:defRPr>
            </a:pPr>
            <a:r>
              <a:t>Presenter: Puja Gurung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" y="1133856"/>
            <a:ext cx="5559552" cy="5148072"/>
          </a:xfrm>
          <a:prstGeom prst="roundRect">
            <a:avLst/>
          </a:prstGeom>
          <a:solidFill>
            <a:srgbClr val="FAFBFD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page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804" y="1170432"/>
            <a:ext cx="4148630" cy="50749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163056" y="1133856"/>
            <a:ext cx="5559552" cy="5148072"/>
          </a:xfrm>
          <a:prstGeom prst="roundRect">
            <a:avLst/>
          </a:prstGeom>
          <a:solidFill>
            <a:srgbClr val="FAFBFD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page_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8516" y="1170432"/>
            <a:ext cx="4148630" cy="5074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8368" y="6108192"/>
            <a:ext cx="5212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A646E"/>
                </a:solidFill>
                <a:latin typeface="Aptos"/>
              </a:defRPr>
            </a:pPr>
            <a:r>
              <a:t>Figure/page Prescription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6108192"/>
            <a:ext cx="5212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A646E"/>
                </a:solidFill>
                <a:latin typeface="Aptos"/>
              </a:defRPr>
            </a:pPr>
            <a:r>
              <a:t>Figure/page Admin Dashboard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A"/>
                </a:solidFill>
                <a:latin typeface="Aptos Display"/>
              </a:defRPr>
            </a:pPr>
            <a:r>
              <a:t>DFD Level 1 — Major Processes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329184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F96"/>
                </a:solidFill>
                <a:latin typeface="Aptos"/>
              </a:defRPr>
            </a:pPr>
            <a:r>
              <a:t>SYSTEM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A"/>
                </a:solidFill>
                <a:latin typeface="Aptos"/>
              </a:defRPr>
            </a:pPr>
            <a:r>
              <a:t>Breakdown of authentication, appointments, prescriptions, inventory, notifications and reporting.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1E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923651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3"/>
                </a:solidFill>
                <a:latin typeface="Aptos"/>
              </a:defRPr>
            </a:pPr>
            <a:r>
              <a:rPr dirty="0"/>
              <a:t>Presenter: </a:t>
            </a:r>
            <a:r>
              <a:rPr lang="en-US" dirty="0"/>
              <a:t>Puja 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" y="1014983"/>
            <a:ext cx="11045952" cy="5468112"/>
          </a:xfrm>
          <a:prstGeom prst="roundRect">
            <a:avLst/>
          </a:prstGeom>
          <a:solidFill>
            <a:srgbClr val="FAFBFD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page_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5288" y="1051559"/>
            <a:ext cx="395094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A"/>
                </a:solidFill>
                <a:latin typeface="Aptos Display"/>
              </a:defRPr>
            </a:pPr>
            <a:r>
              <a:rPr dirty="0"/>
              <a:t>DFD Level 2 — Inventory &amp; Notifications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329184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F96"/>
                </a:solidFill>
                <a:latin typeface="Aptos"/>
              </a:defRPr>
            </a:pPr>
            <a:r>
              <a:t>SYSTEM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A"/>
                </a:solidFill>
                <a:latin typeface="Aptos"/>
              </a:defRPr>
            </a:pPr>
            <a:r>
              <a:t>Process 4.0 manages stock; Process 5.0 manages alerts and notifications.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1E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1271502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3"/>
                </a:solidFill>
                <a:latin typeface="Aptos"/>
              </a:defRPr>
            </a:pPr>
            <a:r>
              <a:rPr dirty="0"/>
              <a:t>Presenter: </a:t>
            </a:r>
            <a:r>
              <a:rPr lang="en-US" dirty="0"/>
              <a:t>Puja Gurung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  <a:latin typeface="Aptos"/>
              </a:defRPr>
            </a:pPr>
            <a:r>
              <a:t>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3" y="1152144"/>
            <a:ext cx="10063633" cy="4965192"/>
          </a:xfrm>
          <a:prstGeom prst="roundRect">
            <a:avLst/>
          </a:prstGeom>
          <a:solidFill>
            <a:srgbClr val="FAFBFD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page_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801" y="1188720"/>
            <a:ext cx="6320473" cy="489203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A"/>
                </a:solidFill>
                <a:latin typeface="Aptos Display"/>
              </a:defRPr>
            </a:pPr>
            <a:r>
              <a:t>Entity Relationship Diagram (ERD)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329184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F96"/>
                </a:solidFill>
                <a:latin typeface="Aptos"/>
              </a:defRPr>
            </a:pPr>
            <a:r>
              <a:t>DATA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A"/>
                </a:solidFill>
                <a:latin typeface="Aptos"/>
              </a:defRPr>
            </a:pPr>
            <a:r>
              <a:t>Central database relationships for users, prescriptions, medicines, inventory, dispensing, tracking, notifications and audit.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1E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1898277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3"/>
                </a:solidFill>
                <a:latin typeface="Aptos"/>
              </a:defRPr>
            </a:pPr>
            <a:r>
              <a:rPr dirty="0" err="1"/>
              <a:t>Presente</a:t>
            </a:r>
            <a:r>
              <a:rPr lang="en-US" dirty="0" err="1"/>
              <a:t>r,Yam</a:t>
            </a:r>
            <a:r>
              <a:rPr lang="en-US" dirty="0"/>
              <a:t> </a:t>
            </a:r>
            <a:r>
              <a:rPr lang="en-US" dirty="0" err="1"/>
              <a:t>Mahotra</a:t>
            </a:r>
            <a:r>
              <a:rPr lang="en-US" dirty="0"/>
              <a:t> Puja Gurung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  <a:latin typeface="Aptos"/>
              </a:defRPr>
            </a:pPr>
            <a:r>
              <a:t>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" y="1014983"/>
            <a:ext cx="11045952" cy="5513832"/>
          </a:xfrm>
          <a:prstGeom prst="roundRect">
            <a:avLst/>
          </a:prstGeom>
          <a:solidFill>
            <a:srgbClr val="FAFBFD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063DC24-5ECF-CA09-FDAB-3FB06C071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947" y="1115568"/>
            <a:ext cx="9367004" cy="519379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A"/>
                </a:solidFill>
                <a:latin typeface="Aptos Display"/>
              </a:defRPr>
            </a:pPr>
            <a:r>
              <a:t>Data Protection Impact Assessment — Purpose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329184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F96"/>
                </a:solidFill>
                <a:latin typeface="Aptos"/>
              </a:defRPr>
            </a:pPr>
            <a:r>
              <a:t>PRIVACY &amp;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A"/>
                </a:solidFill>
                <a:latin typeface="Aptos"/>
              </a:defRPr>
            </a:pPr>
            <a:r>
              <a:t>DPMTMS processes highly sensitive personal and health information, making privacy risk assessment central to the design.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1E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3"/>
                </a:solidFill>
                <a:latin typeface="Aptos"/>
              </a:defRPr>
            </a:pPr>
            <a:r>
              <a:t>Presenter: Utsav Paudel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  <a:latin typeface="Aptos"/>
              </a:defRPr>
            </a:pPr>
            <a:r>
              <a:t>39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5303520" cy="1554480"/>
          </a:xfrm>
          <a:prstGeom prst="roundRect">
            <a:avLst/>
          </a:prstGeom>
          <a:solidFill>
            <a:srgbClr val="F2F6FA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234440"/>
            <a:ext cx="73152" cy="155448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1380744"/>
            <a:ext cx="49377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33A"/>
                </a:solidFill>
                <a:latin typeface="Aptos Display"/>
              </a:defRPr>
            </a:pPr>
            <a:r>
              <a:t>Why a DPIA is needed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1801368"/>
            <a:ext cx="49377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D3A"/>
                </a:solidFill>
                <a:latin typeface="Aptos"/>
              </a:defRPr>
            </a:pPr>
            <a:r>
              <a:t>The system collects, processes and stores medical histories, prescriptions, medication details and system activity logs.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234440"/>
            <a:ext cx="5303520" cy="1554480"/>
          </a:xfrm>
          <a:prstGeom prst="roundRect">
            <a:avLst/>
          </a:prstGeom>
          <a:solidFill>
            <a:srgbClr val="F2F6FA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234440"/>
            <a:ext cx="73152" cy="1554480"/>
          </a:xfrm>
          <a:prstGeom prst="rect">
            <a:avLst/>
          </a:prstGeom>
          <a:solidFill>
            <a:srgbClr val="2C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9088" y="1380744"/>
            <a:ext cx="49377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33A"/>
                </a:solidFill>
                <a:latin typeface="Aptos Display"/>
              </a:defRPr>
            </a:pPr>
            <a:r>
              <a:t>Data 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1801368"/>
            <a:ext cx="49377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D3A"/>
                </a:solidFill>
                <a:latin typeface="Aptos"/>
              </a:defRPr>
            </a:pPr>
            <a:r>
              <a:t>Doctors, patients, pharmacists and administrators are the sources of system information.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154680"/>
            <a:ext cx="5303520" cy="1554480"/>
          </a:xfrm>
          <a:prstGeom prst="roundRect">
            <a:avLst/>
          </a:prstGeom>
          <a:solidFill>
            <a:srgbClr val="F2F6FA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" y="3154680"/>
            <a:ext cx="73152" cy="1554480"/>
          </a:xfrm>
          <a:prstGeom prst="rect">
            <a:avLst/>
          </a:prstGeom>
          <a:solidFill>
            <a:srgbClr val="C48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" y="3300984"/>
            <a:ext cx="49377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33A"/>
                </a:solidFill>
                <a:latin typeface="Aptos Display"/>
              </a:defRPr>
            </a:pPr>
            <a:r>
              <a:t>Sensitive categories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3721608"/>
            <a:ext cx="49377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D3A"/>
                </a:solidFill>
                <a:latin typeface="Aptos"/>
              </a:defRPr>
            </a:pPr>
            <a:r>
              <a:t>Health information includes treatment, medication, allergies and doctors' notes.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154680"/>
            <a:ext cx="5303520" cy="1554480"/>
          </a:xfrm>
          <a:prstGeom prst="roundRect">
            <a:avLst/>
          </a:prstGeom>
          <a:solidFill>
            <a:srgbClr val="F2F6FA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3154680"/>
            <a:ext cx="73152" cy="1554480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19088" y="3300984"/>
            <a:ext cx="49377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33A"/>
                </a:solidFill>
                <a:latin typeface="Aptos Display"/>
              </a:defRPr>
            </a:pPr>
            <a:r>
              <a:t>Controlled sharing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3721608"/>
            <a:ext cx="49377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D3A"/>
                </a:solidFill>
                <a:latin typeface="Aptos"/>
              </a:defRPr>
            </a:pPr>
            <a:r>
              <a:t>Sensitive data is shared only with authorized roles; access is restricted through permissions and RBAC.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257800"/>
            <a:ext cx="10149840" cy="502920"/>
          </a:xfrm>
          <a:prstGeom prst="rect">
            <a:avLst/>
          </a:prstGeom>
          <a:noFill/>
        </p:spPr>
        <p:txBody>
          <a:bodyPr wrap="square" lIns="54864" tIns="27432" rIns="27432" bIns="27432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32D3A"/>
                </a:solidFill>
                <a:latin typeface="Aptos"/>
              </a:defRPr>
            </a:pPr>
            <a:r>
              <a:t>The report identifies data minimisation, input validation, audit logging, encryption and MFA/strong access controls as privacy safeguards.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A"/>
                </a:solidFill>
                <a:latin typeface="Aptos Display"/>
              </a:defRPr>
            </a:pPr>
            <a:r>
              <a:t>DPIA — Context, Standards &amp; Individual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329184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F96"/>
                </a:solidFill>
                <a:latin typeface="Aptos"/>
              </a:defRPr>
            </a:pPr>
            <a:r>
              <a:t>PRIVACY &amp;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A"/>
                </a:solidFill>
                <a:latin typeface="Aptos"/>
              </a:defRPr>
            </a:pPr>
            <a:r>
              <a:t>Privacy design is aligned with the project's healthcare setting and stated Australian compliance context.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1E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3"/>
                </a:solidFill>
                <a:latin typeface="Aptos"/>
              </a:defRPr>
            </a:pPr>
            <a:r>
              <a:t>Presenter: Utsav Paudel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53035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234440"/>
            <a:ext cx="73152" cy="1508760"/>
          </a:xfrm>
          <a:prstGeom prst="rect">
            <a:avLst/>
          </a:prstGeom>
          <a:solidFill>
            <a:srgbClr val="2C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1380744"/>
            <a:ext cx="49377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33A"/>
                </a:solidFill>
                <a:latin typeface="Aptos Display"/>
              </a:defRPr>
            </a:pPr>
            <a:r>
              <a:t>Retention &amp; location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1801368"/>
            <a:ext cx="4937759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D3A"/>
                </a:solidFill>
                <a:latin typeface="Aptos"/>
              </a:defRPr>
            </a:pPr>
            <a:r>
              <a:t>The report references Victorian Health Records Act 2001 (Vic) and identifies West Melbourne, Victoria, Australia as the geographical area.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234440"/>
            <a:ext cx="53035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234440"/>
            <a:ext cx="73152" cy="1508760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9088" y="1380744"/>
            <a:ext cx="49377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33A"/>
                </a:solidFill>
                <a:latin typeface="Aptos Display"/>
              </a:defRPr>
            </a:pPr>
            <a:r>
              <a:t>Individual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1801368"/>
            <a:ext cx="4937759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D3A"/>
                </a:solidFill>
                <a:latin typeface="Aptos"/>
              </a:defRPr>
            </a:pPr>
            <a:r>
              <a:t>Patients can update personal information, view prescriptions and request renewals; doctors and administrators have role-specific access.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108960"/>
            <a:ext cx="53035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" y="3108960"/>
            <a:ext cx="73152" cy="150876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" y="3255264"/>
            <a:ext cx="49377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33A"/>
                </a:solidFill>
                <a:latin typeface="Aptos Display"/>
              </a:defRPr>
            </a:pPr>
            <a:r>
              <a:t>Standards / controls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3675887"/>
            <a:ext cx="4937759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D3A"/>
                </a:solidFill>
                <a:latin typeface="Aptos"/>
              </a:defRPr>
            </a:pPr>
            <a:r>
              <a:t>RBAC, encrypted storage, bcrypt password hashing, audit logging, WCAG accessibility standards and Australian Privacy standards.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108960"/>
            <a:ext cx="53035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3108960"/>
            <a:ext cx="73152" cy="1508760"/>
          </a:xfrm>
          <a:prstGeom prst="rect">
            <a:avLst/>
          </a:prstGeom>
          <a:solidFill>
            <a:srgbClr val="C48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19088" y="3255264"/>
            <a:ext cx="49377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33A"/>
                </a:solidFill>
                <a:latin typeface="Aptos Display"/>
              </a:defRPr>
            </a:pPr>
            <a:r>
              <a:t>Public concerns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3675887"/>
            <a:ext cx="4937759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D3A"/>
                </a:solidFill>
                <a:latin typeface="Aptos"/>
              </a:defRPr>
            </a:pPr>
            <a:r>
              <a:t>Cybersecurity, data privacy and digital-access difficulties for vulnerable users such as elderly people and children.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A"/>
                </a:solidFill>
                <a:latin typeface="Aptos Display"/>
              </a:defRPr>
            </a:pPr>
            <a:r>
              <a:t>DPIA — Key Risks &amp;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329184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F96"/>
                </a:solidFill>
                <a:latin typeface="Aptos"/>
              </a:defRPr>
            </a:pPr>
            <a:r>
              <a:t>PRIVACY &amp;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A"/>
                </a:solidFill>
                <a:latin typeface="Aptos"/>
              </a:defRPr>
            </a:pPr>
            <a:r>
              <a:t>The report identifies high-risk areas and corresponding mitigation measures.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1E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3"/>
                </a:solidFill>
                <a:latin typeface="Aptos"/>
              </a:defRPr>
            </a:pPr>
            <a:r>
              <a:t>Presenter: Utsav Paudel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  <a:latin typeface="Aptos"/>
              </a:defRPr>
            </a:pPr>
            <a:r>
              <a:t>41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530352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234440"/>
            <a:ext cx="73152" cy="141732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1380744"/>
            <a:ext cx="49377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33A"/>
                </a:solidFill>
                <a:latin typeface="Aptos Display"/>
              </a:defRPr>
            </a:pPr>
            <a:r>
              <a:t>High risks identified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1801368"/>
            <a:ext cx="49377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D3A"/>
                </a:solidFill>
                <a:latin typeface="Aptos"/>
              </a:defRPr>
            </a:pPr>
            <a:r>
              <a:t>Downtime causing prescribing errors; unauthorized access to patient records; cybersecurity data breach.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234440"/>
            <a:ext cx="530352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234440"/>
            <a:ext cx="73152" cy="1417320"/>
          </a:xfrm>
          <a:prstGeom prst="rect">
            <a:avLst/>
          </a:prstGeom>
          <a:solidFill>
            <a:srgbClr val="C48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9088" y="1380744"/>
            <a:ext cx="49377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33A"/>
                </a:solidFill>
                <a:latin typeface="Aptos Display"/>
              </a:defRPr>
            </a:pPr>
            <a:r>
              <a:t>Medium risks identified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1801368"/>
            <a:ext cx="49377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D3A"/>
                </a:solidFill>
                <a:latin typeface="Aptos"/>
              </a:defRPr>
            </a:pPr>
            <a:r>
              <a:t>Limited improvement in health outcomes; implementation/training costs; internet dependency; inaccurate stock; non-compliance.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971800"/>
            <a:ext cx="530352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" y="2971800"/>
            <a:ext cx="73152" cy="141732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" y="3118104"/>
            <a:ext cx="49377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33A"/>
                </a:solidFill>
                <a:latin typeface="Aptos Display"/>
              </a:defRPr>
            </a:pPr>
            <a:r>
              <a:t>Mitigation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3538728"/>
            <a:ext cx="49377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D3A"/>
                </a:solidFill>
                <a:latin typeface="Aptos"/>
              </a:defRPr>
            </a:pPr>
            <a:r>
              <a:t>Backup procedures, reliable internet, regular stock checks, staff training, RBAC, encryption and firewalls.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971800"/>
            <a:ext cx="530352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2971800"/>
            <a:ext cx="73152" cy="1417320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19088" y="3118104"/>
            <a:ext cx="49377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33A"/>
                </a:solidFill>
                <a:latin typeface="Aptos Display"/>
              </a:defRPr>
            </a:pPr>
            <a:r>
              <a:t>Residual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3538728"/>
            <a:ext cx="49377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D3A"/>
                </a:solidFill>
                <a:latin typeface="Aptos"/>
              </a:defRPr>
            </a:pPr>
            <a:r>
              <a:t>The report records the proposed controls as reducing risks to Low residual risk with approved measures.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9601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9966960" cy="2560320"/>
          </a:xfrm>
          <a:prstGeom prst="rect">
            <a:avLst/>
          </a:prstGeom>
          <a:noFill/>
        </p:spPr>
        <p:txBody>
          <a:bodyPr wrap="square" lIns="54864" tIns="27432" rIns="27432" bIns="27432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E1EBF5"/>
                </a:solidFill>
                <a:latin typeface="Aptos"/>
              </a:defRPr>
            </a:pPr>
            <a:r>
              <a:t>A centralized DPMTMS can replace fragmented paper-based prescription and medication workflows.</a:t>
            </a:r>
          </a:p>
          <a:p>
            <a:pPr>
              <a:spcAft>
                <a:spcPts val="700"/>
              </a:spcAft>
              <a:defRPr sz="1900">
                <a:solidFill>
                  <a:srgbClr val="E1EBF5"/>
                </a:solidFill>
                <a:latin typeface="Aptos"/>
              </a:defRPr>
            </a:pPr>
            <a:r>
              <a:t>Role-based modules connect doctors, patients, pharmacists and administrators through a consistent system.</a:t>
            </a:r>
          </a:p>
          <a:p>
            <a:pPr>
              <a:spcAft>
                <a:spcPts val="700"/>
              </a:spcAft>
              <a:defRPr sz="1900">
                <a:solidFill>
                  <a:srgbClr val="E1EBF5"/>
                </a:solidFill>
                <a:latin typeface="Aptos"/>
              </a:defRPr>
            </a:pPr>
            <a:r>
              <a:t>The design combines secure architecture, database modelling, detailed process models, privacy controls and testing.</a:t>
            </a:r>
          </a:p>
          <a:p>
            <a:pPr>
              <a:spcAft>
                <a:spcPts val="700"/>
              </a:spcAft>
              <a:defRPr sz="1900">
                <a:solidFill>
                  <a:srgbClr val="E1EBF5"/>
                </a:solidFill>
                <a:latin typeface="Aptos"/>
              </a:defRPr>
            </a:pPr>
            <a:r>
              <a:t>Agile delivery, phased implementation and rollback planning support controlled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983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08F96"/>
                </a:solidFill>
                <a:latin typeface="Aptos Display"/>
              </a:defRPr>
            </a:pPr>
            <a:r>
              <a:t>Thank You — 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1E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3"/>
                </a:solidFill>
                <a:latin typeface="Aptos"/>
              </a:defRPr>
            </a:pPr>
            <a:r>
              <a:t>Presenter: All group members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47104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  <a:latin typeface="Aptos"/>
              </a:defRPr>
            </a:pPr>
            <a:r>
              <a:t>46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A"/>
                </a:solidFill>
                <a:latin typeface="Aptos Display"/>
              </a:defRPr>
            </a:pPr>
            <a:r>
              <a:t>References &amp;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329184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F96"/>
                </a:solidFill>
                <a:latin typeface="Aptos"/>
              </a:defRPr>
            </a:pPr>
            <a: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A"/>
                </a:solidFill>
                <a:latin typeface="Aptos"/>
              </a:defRPr>
            </a:pPr>
            <a:r>
              <a:t>This presentation is derived from the attached Final SRS Report.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424160" cy="2743200"/>
          </a:xfrm>
          <a:prstGeom prst="rect">
            <a:avLst/>
          </a:prstGeom>
          <a:noFill/>
        </p:spPr>
        <p:txBody>
          <a:bodyPr wrap="square" lIns="54864" tIns="27432" rIns="27432" bIns="27432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Final SRS Report — CPRO306 Capstone Project: Assessment 3.</a:t>
            </a:r>
          </a:p>
          <a:p>
            <a:pPr>
              <a:spcAft>
                <a:spcPts val="7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System title: Bundoora Family Clinic — Digital Prescription and Medication Tracking Management System.</a:t>
            </a:r>
          </a:p>
          <a:p>
            <a:pPr>
              <a:spcAft>
                <a:spcPts val="7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Project repository referenced by the report: github.com/MEL17-Package-ONE/Final-SRS-Report</a:t>
            </a:r>
          </a:p>
          <a:p>
            <a:pPr>
              <a:spcAft>
                <a:spcPts val="7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The presentation reproduces the report's documented UI and system diagrams without adding unsupported external content.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4480560"/>
            <a:ext cx="850392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828800" y="4480560"/>
            <a:ext cx="73152" cy="1143000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29968" y="4626864"/>
            <a:ext cx="8138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33A"/>
                </a:solidFill>
                <a:latin typeface="Aptos Display"/>
              </a:defRPr>
            </a:pPr>
            <a:r>
              <a:t>Group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9968" y="5047488"/>
            <a:ext cx="8138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D3A"/>
                </a:solidFill>
                <a:latin typeface="Aptos"/>
              </a:defRPr>
            </a:pPr>
            <a:r>
              <a:t>Kunjan Tamang • Darpan Kafle • Puja Gurung • Yam Bahadur Mohatra • Utsav Paudel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1E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6565392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3"/>
                </a:solidFill>
                <a:latin typeface="Aptos"/>
              </a:defRPr>
            </a:pPr>
            <a:r>
              <a:t>Presenter: All group members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547104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  <a:latin typeface="Aptos"/>
              </a:defRPr>
            </a:pPr>
            <a:r>
              <a:t>48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1950</Words>
  <Application>Microsoft Office PowerPoint</Application>
  <PresentationFormat>Widescreen</PresentationFormat>
  <Paragraphs>415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Puja Kyasso</dc:creator>
  <cp:keywords/>
  <dc:description>generated using python-pptx</dc:description>
  <cp:lastModifiedBy>Puja Kyasso</cp:lastModifiedBy>
  <cp:revision>6</cp:revision>
  <dcterms:created xsi:type="dcterms:W3CDTF">2013-01-27T09:14:16Z</dcterms:created>
  <dcterms:modified xsi:type="dcterms:W3CDTF">2026-08-23T02:35:13Z</dcterms:modified>
  <cp:category/>
</cp:coreProperties>
</file>